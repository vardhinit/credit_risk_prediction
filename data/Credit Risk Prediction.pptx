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</p:sldIdLst>
  <p:sldSz cx="9144000" cy="5143500" type="screen16x9"/>
  <p:notesSz cx="6858000" cy="9144000"/>
  <p:embeddedFontLst>
    <p:embeddedFont>
      <p:font typeface="Pacifico" pitchFamily="2" charset="77"/>
      <p:regular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66"/>
  </p:normalViewPr>
  <p:slideViewPr>
    <p:cSldViewPr snapToGrid="0">
      <p:cViewPr varScale="1">
        <p:scale>
          <a:sx n="169" d="100"/>
          <a:sy n="169" d="100"/>
        </p:scale>
        <p:origin x="19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ca896d3c5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ca896d3c5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ca896d3c53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ca896d3c53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ca896d3c53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ca896d3c53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ca9d81cd8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ca9d81cd8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ca896d3c53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ca896d3c53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ca9d81cd80_1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ca9d81cd80_1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ca9d81cd80_1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ca9d81cd80_1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ca9d81cd80_1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ca9d81cd80_1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cb03efa098_2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cb03efa098_2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ca9d81cd80_1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ca9d81cd80_1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ca9d81cd80_1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ca9d81cd80_1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ca896d3c53_0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ca896d3c53_0_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ca896d3c53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ca896d3c53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ca896d3c5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ca896d3c53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ca896d3c53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ca896d3c53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ddiemac.com/research/datasets/sf-loanlevel-dataset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olab.research.google.com/drive/1pESkpkvMUno3_Q9EA-GBiKtCrcOcET0y?usp=sharing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964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387900" y="2077982"/>
            <a:ext cx="8520600" cy="63582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 dirty="0">
                <a:solidFill>
                  <a:schemeClr val="lt2"/>
                </a:solidFill>
              </a:rPr>
              <a:t>Multivariate Data Analysis</a:t>
            </a:r>
            <a:endParaRPr sz="2600" b="1" dirty="0">
              <a:solidFill>
                <a:schemeClr val="lt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506393" y="4507655"/>
            <a:ext cx="1790082" cy="63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chemeClr val="lt2"/>
                </a:solidFill>
              </a:rPr>
              <a:t>Vardhini Telu</a:t>
            </a:r>
            <a:endParaRPr sz="1800" dirty="0">
              <a:solidFill>
                <a:schemeClr val="lt2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283650" y="323825"/>
            <a:ext cx="8729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lt1"/>
              </a:solidFill>
            </a:endParaRPr>
          </a:p>
        </p:txBody>
      </p:sp>
      <p:pic>
        <p:nvPicPr>
          <p:cNvPr id="60" name="Google Shape;60;p13"/>
          <p:cNvPicPr preferRelativeResize="0"/>
          <p:nvPr/>
        </p:nvPicPr>
        <p:blipFill rotWithShape="1">
          <a:blip r:embed="rId4">
            <a:alphaModFix/>
          </a:blip>
          <a:srcRect l="2520" t="-780020" r="-2520" b="780019"/>
          <a:stretch/>
        </p:blipFill>
        <p:spPr>
          <a:xfrm>
            <a:off x="230225" y="415003"/>
            <a:ext cx="9144002" cy="259843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/>
        </p:nvSpPr>
        <p:spPr>
          <a:xfrm>
            <a:off x="939450" y="176225"/>
            <a:ext cx="7750500" cy="7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lt1"/>
                </a:solidFill>
              </a:rPr>
              <a:t>MBS Defaulter Prediction Using Machine Learning Model</a:t>
            </a:r>
            <a:endParaRPr sz="22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/>
        </p:nvSpPr>
        <p:spPr>
          <a:xfrm>
            <a:off x="164900" y="1043825"/>
            <a:ext cx="8679600" cy="3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Objective of study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Data description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Data Preprocessing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Exploratory data analysis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Feature extraction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Prediction Models </a:t>
            </a:r>
            <a:endParaRPr sz="10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Conclusion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References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164900" y="156050"/>
            <a:ext cx="86796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Contents</a:t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715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3991950" y="640350"/>
            <a:ext cx="5151900" cy="28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200">
              <a:solidFill>
                <a:srgbClr val="741B47"/>
              </a:solidFill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900"/>
              <a:buChar char="●"/>
            </a:pPr>
            <a:r>
              <a:rPr lang="en" sz="2300" b="1">
                <a:solidFill>
                  <a:srgbClr val="20124D"/>
                </a:solidFill>
              </a:rPr>
              <a:t>To predict Mortgage-Backed Securities (MBS)  Defaulter using Machine Learning Model</a:t>
            </a:r>
            <a:endParaRPr sz="1900" b="1">
              <a:solidFill>
                <a:srgbClr val="20124D"/>
              </a:solidFill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437400" y="267325"/>
            <a:ext cx="46236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b="1">
                <a:solidFill>
                  <a:srgbClr val="741B47"/>
                </a:solidFill>
              </a:rPr>
              <a:t>Objective of study </a:t>
            </a:r>
            <a:endParaRPr sz="1800" b="1">
              <a:solidFill>
                <a:srgbClr val="741B4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149575" y="817050"/>
            <a:ext cx="8829300" cy="38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Data is obtained from </a:t>
            </a:r>
            <a:r>
              <a:rPr lang="en" sz="2000" b="1">
                <a:solidFill>
                  <a:srgbClr val="274E13"/>
                </a:solidFill>
              </a:rPr>
              <a:t>Freddie Mac official portal for home loans</a:t>
            </a:r>
            <a:r>
              <a:rPr lang="en" sz="2000">
                <a:solidFill>
                  <a:schemeClr val="dk1"/>
                </a:solidFill>
              </a:rPr>
              <a:t>:</a:t>
            </a:r>
            <a:endParaRPr sz="20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(291452 x 28)</a:t>
            </a:r>
            <a:endParaRPr sz="20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Some of the noteworthy features of the dataset are: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Credit score of the client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The maturity date of the mortgage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Percentage of insurance on the mortgage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Debt to income ratio of the borrower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Mortgage interest rate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Prepayment Penalty Mortgage- denotes if there is any penalty levied on prepayment of loan.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The number of borrowers issued the loan.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149575" y="200025"/>
            <a:ext cx="86322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>
                <a:solidFill>
                  <a:srgbClr val="20124D"/>
                </a:solidFill>
              </a:rPr>
              <a:t>Data Description </a:t>
            </a:r>
            <a:endParaRPr sz="2700" b="1">
              <a:solidFill>
                <a:srgbClr val="20124D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675" y="887675"/>
            <a:ext cx="4074950" cy="270875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7" name="Google Shape;87;p17"/>
          <p:cNvSpPr txBox="1"/>
          <p:nvPr/>
        </p:nvSpPr>
        <p:spPr>
          <a:xfrm>
            <a:off x="200725" y="3744875"/>
            <a:ext cx="4002300" cy="10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Poor : &lt; 650, Fair :  650 to 700, 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Good : 700 to 750, Excellent : &gt; 750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The people with the good credit score were given more loan than the excellent credit score.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4383025" y="3744875"/>
            <a:ext cx="45855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Months in repayment column is transformed to Repayment Range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Most of the people have repaid the loan in the 0 to 4 year, and 4 to 8 years.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89" name="Google Shape;89;p17"/>
          <p:cNvPicPr preferRelativeResize="0"/>
          <p:nvPr/>
        </p:nvPicPr>
        <p:blipFill rotWithShape="1">
          <a:blip r:embed="rId4">
            <a:alphaModFix/>
          </a:blip>
          <a:srcRect t="4324"/>
          <a:stretch/>
        </p:blipFill>
        <p:spPr>
          <a:xfrm>
            <a:off x="4417600" y="887675"/>
            <a:ext cx="4516350" cy="270874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0" name="Google Shape;90;p17"/>
          <p:cNvSpPr txBox="1"/>
          <p:nvPr/>
        </p:nvSpPr>
        <p:spPr>
          <a:xfrm>
            <a:off x="238675" y="230125"/>
            <a:ext cx="5214300" cy="5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</a:rPr>
              <a:t>Data Preprocessing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8"/>
          <p:cNvPicPr preferRelativeResize="0"/>
          <p:nvPr/>
        </p:nvPicPr>
        <p:blipFill rotWithShape="1">
          <a:blip r:embed="rId3">
            <a:alphaModFix/>
          </a:blip>
          <a:srcRect t="7429" b="2407"/>
          <a:stretch/>
        </p:blipFill>
        <p:spPr>
          <a:xfrm>
            <a:off x="4255850" y="1156000"/>
            <a:ext cx="4759025" cy="372532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6" name="Google Shape;96;p18"/>
          <p:cNvSpPr txBox="1"/>
          <p:nvPr/>
        </p:nvSpPr>
        <p:spPr>
          <a:xfrm>
            <a:off x="276350" y="489175"/>
            <a:ext cx="105900" cy="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477500" y="1621575"/>
            <a:ext cx="3450300" cy="22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If the number of borrowers  are 2 than the chance of being the defaulter is less.</a:t>
            </a:r>
            <a:endParaRPr sz="18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2 borrowers First time Homebuyer have very less chances of defaulter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200150" y="200275"/>
            <a:ext cx="51435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chemeClr val="dk1"/>
                </a:solidFill>
              </a:rPr>
              <a:t>Exploratory Data Analysis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9"/>
          <p:cNvPicPr preferRelativeResize="0"/>
          <p:nvPr/>
        </p:nvPicPr>
        <p:blipFill rotWithShape="1">
          <a:blip r:embed="rId3">
            <a:alphaModFix/>
          </a:blip>
          <a:srcRect l="-2860" t="5464" r="2859"/>
          <a:stretch/>
        </p:blipFill>
        <p:spPr>
          <a:xfrm>
            <a:off x="201075" y="1074176"/>
            <a:ext cx="4314649" cy="299515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4" name="Google Shape;104;p19"/>
          <p:cNvSpPr txBox="1"/>
          <p:nvPr/>
        </p:nvSpPr>
        <p:spPr>
          <a:xfrm>
            <a:off x="343663" y="584450"/>
            <a:ext cx="4131000" cy="11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177400" y="4249725"/>
            <a:ext cx="4362000" cy="7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There is high chances of being delinquent for the poor credit score class.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4798037" y="4069325"/>
            <a:ext cx="4167300" cy="8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There are high chances of being delinquent for loan repayment between 16 to 20 years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201075" y="222250"/>
            <a:ext cx="631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</a:rPr>
              <a:t>Exploratory Data Analysis…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 rotWithShape="1">
          <a:blip r:embed="rId4">
            <a:alphaModFix/>
          </a:blip>
          <a:srcRect t="3938"/>
          <a:stretch/>
        </p:blipFill>
        <p:spPr>
          <a:xfrm>
            <a:off x="4729700" y="1074175"/>
            <a:ext cx="4235625" cy="299515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0"/>
          <p:cNvPicPr preferRelativeResize="0"/>
          <p:nvPr/>
        </p:nvPicPr>
        <p:blipFill rotWithShape="1">
          <a:blip r:embed="rId3">
            <a:alphaModFix/>
          </a:blip>
          <a:srcRect t="4159"/>
          <a:stretch/>
        </p:blipFill>
        <p:spPr>
          <a:xfrm>
            <a:off x="3833725" y="806675"/>
            <a:ext cx="5111825" cy="418900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0"/>
          <p:cNvSpPr txBox="1"/>
          <p:nvPr/>
        </p:nvSpPr>
        <p:spPr>
          <a:xfrm>
            <a:off x="201075" y="222250"/>
            <a:ext cx="6319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</a:rPr>
              <a:t>Exploratory Data Analysis…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392750" y="1577175"/>
            <a:ext cx="3249000" cy="14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There is no significant relation between the Loan to value (LTV)  range of being delinquent.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4700" y="1301875"/>
            <a:ext cx="4870226" cy="3093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21" name="Google Shape;121;p21"/>
          <p:cNvSpPr txBox="1"/>
          <p:nvPr/>
        </p:nvSpPr>
        <p:spPr>
          <a:xfrm>
            <a:off x="165100" y="1301875"/>
            <a:ext cx="3939600" cy="30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Feature importance property of the model provides score for each feature 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Higher score indicates greater importance to output variable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Extra tree classifier, a tree based classifier is used to extract the 20 features.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248650" y="234150"/>
            <a:ext cx="66198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</a:rPr>
              <a:t>Feature extraction</a:t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/>
        </p:nvSpPr>
        <p:spPr>
          <a:xfrm>
            <a:off x="247650" y="202150"/>
            <a:ext cx="43053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</a:rPr>
              <a:t>Principal component analysis</a:t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134" name="Google Shape;134;p23"/>
          <p:cNvSpPr txBox="1"/>
          <p:nvPr/>
        </p:nvSpPr>
        <p:spPr>
          <a:xfrm>
            <a:off x="4379800" y="3928375"/>
            <a:ext cx="4721700" cy="8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86.33 %</a:t>
            </a:r>
            <a:r>
              <a:rPr lang="en" sz="1800">
                <a:solidFill>
                  <a:srgbClr val="38761D"/>
                </a:solidFill>
              </a:rPr>
              <a:t> </a:t>
            </a:r>
            <a:r>
              <a:rPr lang="en" sz="1800">
                <a:solidFill>
                  <a:schemeClr val="dk1"/>
                </a:solidFill>
              </a:rPr>
              <a:t>variance of the dataset is explained by top 14 principal components.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35" name="Google Shape;135;p23"/>
          <p:cNvSpPr txBox="1"/>
          <p:nvPr/>
        </p:nvSpPr>
        <p:spPr>
          <a:xfrm>
            <a:off x="156938" y="3958075"/>
            <a:ext cx="40560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Curve of cumulative variance explained by the principal component.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3550" y="989375"/>
            <a:ext cx="4434700" cy="280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6226" y="1027976"/>
            <a:ext cx="3557426" cy="276995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/>
        </p:nvSpPr>
        <p:spPr>
          <a:xfrm>
            <a:off x="182025" y="201075"/>
            <a:ext cx="854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</a:rPr>
              <a:t>Logistics Regression Model for Predicting the defaulter</a:t>
            </a:r>
            <a:r>
              <a:rPr lang="en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43" name="Google Shape;143;p24"/>
          <p:cNvSpPr txBox="1"/>
          <p:nvPr/>
        </p:nvSpPr>
        <p:spPr>
          <a:xfrm>
            <a:off x="182025" y="4124575"/>
            <a:ext cx="8819100" cy="5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1600">
                <a:solidFill>
                  <a:schemeClr val="dk2"/>
                </a:solidFill>
              </a:rPr>
              <a:t>The accuracy of the logistic regression model is approximately </a:t>
            </a:r>
            <a:r>
              <a:rPr lang="en" sz="1600">
                <a:solidFill>
                  <a:srgbClr val="A64D79"/>
                </a:solidFill>
              </a:rPr>
              <a:t>89.32%</a:t>
            </a:r>
            <a:r>
              <a:rPr lang="en" sz="1600">
                <a:solidFill>
                  <a:schemeClr val="dk2"/>
                </a:solidFill>
              </a:rPr>
              <a:t>.</a:t>
            </a:r>
            <a:endParaRPr sz="1600">
              <a:solidFill>
                <a:schemeClr val="dk2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144" name="Google Shape;144;p24"/>
          <p:cNvPicPr preferRelativeResize="0"/>
          <p:nvPr/>
        </p:nvPicPr>
        <p:blipFill rotWithShape="1">
          <a:blip r:embed="rId3">
            <a:alphaModFix/>
          </a:blip>
          <a:srcRect t="2104"/>
          <a:stretch/>
        </p:blipFill>
        <p:spPr>
          <a:xfrm>
            <a:off x="4301000" y="1014862"/>
            <a:ext cx="4633000" cy="2778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2025" y="838737"/>
            <a:ext cx="3920930" cy="3109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4"/>
          <p:cNvSpPr/>
          <p:nvPr/>
        </p:nvSpPr>
        <p:spPr>
          <a:xfrm>
            <a:off x="5754800" y="1319225"/>
            <a:ext cx="1137300" cy="164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/>
        </p:nvSpPr>
        <p:spPr>
          <a:xfrm>
            <a:off x="182025" y="201075"/>
            <a:ext cx="8534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</a:rPr>
              <a:t>Random Forest Model for Predicting the defaulter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52" name="Google Shape;152;p25"/>
          <p:cNvSpPr txBox="1"/>
          <p:nvPr/>
        </p:nvSpPr>
        <p:spPr>
          <a:xfrm>
            <a:off x="444800" y="4150800"/>
            <a:ext cx="8636100" cy="9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1600">
                <a:solidFill>
                  <a:schemeClr val="dk2"/>
                </a:solidFill>
              </a:rPr>
              <a:t>The accuracy of the logistic regression model is approximately </a:t>
            </a:r>
            <a:r>
              <a:rPr lang="en" sz="1600">
                <a:solidFill>
                  <a:srgbClr val="A64D79"/>
                </a:solidFill>
              </a:rPr>
              <a:t>87.04%</a:t>
            </a:r>
            <a:r>
              <a:rPr lang="en" sz="1600">
                <a:solidFill>
                  <a:schemeClr val="dk2"/>
                </a:solidFill>
              </a:rPr>
              <a:t>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53" name="Google Shape;15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3025" y="1002738"/>
            <a:ext cx="4677875" cy="280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075" y="855563"/>
            <a:ext cx="3962460" cy="3142837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5"/>
          <p:cNvSpPr/>
          <p:nvPr/>
        </p:nvSpPr>
        <p:spPr>
          <a:xfrm>
            <a:off x="5890375" y="1326025"/>
            <a:ext cx="1095900" cy="1887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/>
        </p:nvSpPr>
        <p:spPr>
          <a:xfrm>
            <a:off x="410025" y="873775"/>
            <a:ext cx="8652600" cy="3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Single number borrowers, with poor credit score(0-650), and borrowers having 16-20 yrs of repayment are more delinquent.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Client with high Mortgage Insurance Premium and High Debt to Income ratio are more delinquent.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Accuracy of the Logistic Regression Model is 89.32% and that of Random Forest Model is 87.04%.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Those who are not subject to Prepayment penalty are more delinquent in PPM column.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Loan issued by the third party organisation in channel column having more delinquent.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Loan issued by seller Name "CR" is having more delinquent.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61" name="Google Shape;161;p26"/>
          <p:cNvSpPr txBox="1"/>
          <p:nvPr/>
        </p:nvSpPr>
        <p:spPr>
          <a:xfrm>
            <a:off x="613800" y="262025"/>
            <a:ext cx="27900" cy="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162" name="Google Shape;162;p26"/>
          <p:cNvSpPr txBox="1"/>
          <p:nvPr/>
        </p:nvSpPr>
        <p:spPr>
          <a:xfrm>
            <a:off x="613800" y="122775"/>
            <a:ext cx="7566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 b="1">
                <a:solidFill>
                  <a:schemeClr val="dk1"/>
                </a:solidFill>
              </a:rPr>
              <a:t>Conclusions</a:t>
            </a:r>
            <a:endParaRPr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/>
          <p:nvPr/>
        </p:nvSpPr>
        <p:spPr>
          <a:xfrm>
            <a:off x="539525" y="113475"/>
            <a:ext cx="6944700" cy="9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References: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8" name="Google Shape;168;p27"/>
          <p:cNvSpPr txBox="1"/>
          <p:nvPr/>
        </p:nvSpPr>
        <p:spPr>
          <a:xfrm>
            <a:off x="632375" y="754100"/>
            <a:ext cx="73254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222"/>
                </a:solidFill>
                <a:highlight>
                  <a:srgbClr val="FFFFFF"/>
                </a:highlight>
              </a:rPr>
              <a:t>Kanimozhi, P., Parkavi, S., &amp; Kumar, T. A. (2023, April). Predicting Mortgage-Backed Securities Prepayment Risk Using Machine Learning Models. In </a:t>
            </a:r>
            <a:r>
              <a:rPr lang="en" sz="1500" i="1">
                <a:solidFill>
                  <a:srgbClr val="222222"/>
                </a:solidFill>
                <a:highlight>
                  <a:srgbClr val="FFFFFF"/>
                </a:highlight>
              </a:rPr>
              <a:t>2023 2nd International Conference on Smart Technologies and Systems for Next Generation Computing (ICSTSN)</a:t>
            </a:r>
            <a:r>
              <a:rPr lang="en" sz="1500">
                <a:solidFill>
                  <a:srgbClr val="222222"/>
                </a:solidFill>
                <a:highlight>
                  <a:srgbClr val="FFFFFF"/>
                </a:highlight>
              </a:rPr>
              <a:t> (pp. 1-8). IEEE.</a:t>
            </a:r>
            <a:endParaRPr sz="15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22222"/>
                </a:solidFill>
                <a:highlight>
                  <a:srgbClr val="FFFFFF"/>
                </a:highlight>
              </a:rPr>
              <a:t>Link for the Dataset:</a:t>
            </a:r>
            <a:r>
              <a:rPr lang="en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">
                <a:solidFill>
                  <a:schemeClr val="dk1"/>
                </a:solidFill>
              </a:rPr>
              <a:t>Freddie Mac official portal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https://www.freddiemac.com/research/datasets/sf-loanlevel-dataset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Code link (Google collab):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https://colab.research.google.com/drive/1pESkpkvMUno3_Q9EA-GBiKtCrcOcET0y?usp=sharing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8"/>
          <p:cNvSpPr txBox="1"/>
          <p:nvPr/>
        </p:nvSpPr>
        <p:spPr>
          <a:xfrm>
            <a:off x="1731175" y="1048275"/>
            <a:ext cx="6133200" cy="25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rgbClr val="274E13"/>
                </a:solidFill>
                <a:latin typeface="Pacifico"/>
                <a:ea typeface="Pacifico"/>
                <a:cs typeface="Pacifico"/>
                <a:sym typeface="Pacifico"/>
              </a:rPr>
              <a:t>Thank you</a:t>
            </a:r>
            <a:endParaRPr sz="8000">
              <a:solidFill>
                <a:srgbClr val="274E13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584</Words>
  <Application>Microsoft Macintosh PowerPoint</Application>
  <PresentationFormat>On-screen Show (16:9)</PresentationFormat>
  <Paragraphs>73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Pacifico</vt:lpstr>
      <vt:lpstr>Simple Light</vt:lpstr>
      <vt:lpstr>Multivariate Data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Vardhini Telu</cp:lastModifiedBy>
  <cp:revision>1</cp:revision>
  <dcterms:modified xsi:type="dcterms:W3CDTF">2026-04-09T12:36:09Z</dcterms:modified>
</cp:coreProperties>
</file>